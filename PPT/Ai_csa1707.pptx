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1"/>
  </p:notesMasterIdLst>
  <p:sldIdLst>
    <p:sldId id="256" r:id="rId2"/>
    <p:sldId id="257" r:id="rId3"/>
    <p:sldId id="277" r:id="rId4"/>
    <p:sldId id="259" r:id="rId5"/>
    <p:sldId id="258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75" r:id="rId17"/>
    <p:sldId id="276" r:id="rId18"/>
    <p:sldId id="288" r:id="rId19"/>
    <p:sldId id="271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54" autoAdjust="0"/>
  </p:normalViewPr>
  <p:slideViewPr>
    <p:cSldViewPr snapToGrid="0">
      <p:cViewPr varScale="1">
        <p:scale>
          <a:sx n="97" d="100"/>
          <a:sy n="97" d="100"/>
        </p:scale>
        <p:origin x="1070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2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7C959BAA-EEED-E7A1-7AF6-4297C21B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B8EDA6C8-DA3B-94B6-CB80-156EBD17B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6AD8D9DE-BA0F-F10E-B422-A3E410247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5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BAF9EF0E-36D1-20AB-3D44-85D33887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D3162CC7-7B26-D782-B57F-C2B315A7D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11C1377D-7952-B22C-16A1-59FA9A315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461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EF3DB0BA-F143-F9A6-8FB2-CF9CE48A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31714A5-77C7-D49A-0536-C8EC5126F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2FACA801-80A6-D562-4966-DA9FA35BE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29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A06A405A-7681-680D-9731-4780A74D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EA8B2805-A152-BC45-7591-DB5A8041D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74552CC5-ACDD-262D-601D-5FCB55F4D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47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3AE4164F-F8C7-E6A4-20D1-BF474278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753DB9A-7830-1254-F605-38D5ECB25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B10C6774-22CD-3D66-81E2-46AC244FA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863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E01D8BE-70E1-8D6C-1AE0-E7E86ADC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626BDE22-B9C8-1AAE-EF64-2EE5B0310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BC7A7756-A6AE-12AB-C08A-5DAFDD583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65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66F9223E-190D-F001-9CF3-A34104EA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2D305C47-944D-886A-ADF3-715701CA4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8A170CC7-2141-F013-6ACC-79ED006E1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01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9795867-2D3E-0788-904F-77217434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0A0F6BD3-B487-08FD-D4BB-8ED90D6FA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E1932230-ABA5-73E9-221A-8AF570F08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25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5A90A7C-EBAA-103E-323B-F5A87FB0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E5A38494-08A5-9716-5B16-B2E0A30F2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D36799FD-E7C2-B89D-CCB5-438B99908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705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7F61E6F-DEB9-ADB3-BC5A-2044550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2C3C4288-51C1-C888-2F76-E061A391A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10DFE7E4-8A7E-8605-B00A-08196B9F2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201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BC39DD1C-538E-6E2F-E4F2-EF6B1E21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9345D30-2750-5606-B1C4-A9DA0BA73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F9B0DD2-A2EF-F9F1-D4B0-C8B402545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86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E1BF65A3-221F-A287-73F1-09F0FFE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9548C66-2EE7-067A-0B03-D6C62FCB9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8FA14428-2C6A-BBBC-63C7-528C81B00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400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DA7D84B-A9E9-F6E2-0B5E-E03DFDA5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0B6EF00E-32B7-205D-64FF-4932BED23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CCDD2DF1-4CED-438C-9C4D-34A01B2F5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009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EBAC184-218A-8BB7-89C6-E21B2C05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D2E943AB-926D-F5CC-DB77-B4B9C00BE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EFD88DED-56BC-65C5-F8AC-07BBFE6AF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960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156035" y="998537"/>
            <a:ext cx="8605837" cy="305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475" rIns="0" bIns="0" anchor="t" anchorCtr="0">
            <a:spAutoFit/>
          </a:bodyPr>
          <a:lstStyle/>
          <a:p>
            <a:pPr marL="365125">
              <a:buClr>
                <a:srgbClr val="C00000"/>
              </a:buClr>
              <a:buSzPts val="2800"/>
            </a:pPr>
            <a:br>
              <a:rPr lang="en-US" sz="2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dirty="0"/>
              <a:t>An Intelligent AI Coding Mentor for Guided Programming Learning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CAPSTONE PROJECT</a:t>
            </a:r>
            <a:br>
              <a:rPr lang="en-US" dirty="0"/>
            </a:br>
            <a:b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CSA1707-Artificial Intelligence</a:t>
            </a:r>
            <a:endParaRPr dirty="0"/>
          </a:p>
        </p:txBody>
      </p:sp>
      <p:sp>
        <p:nvSpPr>
          <p:cNvPr id="48" name="Google Shape;48;p7"/>
          <p:cNvSpPr txBox="1"/>
          <p:nvPr/>
        </p:nvSpPr>
        <p:spPr>
          <a:xfrm>
            <a:off x="293687" y="4508500"/>
            <a:ext cx="4999037" cy="109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" rIns="0" bIns="0" anchor="t" anchorCtr="0">
            <a:spAutoFit/>
          </a:bodyPr>
          <a:lstStyle/>
          <a:p>
            <a:pPr marL="1270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</a:t>
            </a:r>
            <a:endParaRPr dirty="0"/>
          </a:p>
          <a:p>
            <a:pPr marL="12700" marR="0" lvl="0" indent="0" algn="ctr" rtl="0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16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Veeramani R</a:t>
            </a:r>
            <a:endParaRPr lang="en-US" sz="16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49" name="Google Shape;49;p7"/>
          <p:cNvSpPr txBox="1"/>
          <p:nvPr/>
        </p:nvSpPr>
        <p:spPr>
          <a:xfrm>
            <a:off x="5029200" y="4406900"/>
            <a:ext cx="3446462" cy="201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3333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Mugesh R(192524454)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Pritham(192572014)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Vasanthanithi</a:t>
            </a: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 Y</a:t>
            </a: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(192424137)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AIDS and CSE</a:t>
            </a:r>
            <a:b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8326437" y="6411912"/>
            <a:ext cx="115887" cy="23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312" y="442912"/>
            <a:ext cx="7239000" cy="11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267713" y="788987"/>
            <a:ext cx="397602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57" name="Google Shape;57;p8"/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996DE7-5FA2-025E-EEEF-DA731D1EF30B}"/>
              </a:ext>
            </a:extLst>
          </p:cNvPr>
          <p:cNvSpPr txBox="1"/>
          <p:nvPr/>
        </p:nvSpPr>
        <p:spPr>
          <a:xfrm>
            <a:off x="121919" y="1791854"/>
            <a:ext cx="890016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coding assistants have made programming faster and more accessible.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tools generate complete solutions instead of promoting learning.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often struggle with logical errors and programming concepts.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designed to act as an intelligent programming mentor rather than a code generator.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improving logical thinking through guided explanations and hints.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351B6CD3-7CD3-F06A-6301-4F69CA09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>
            <a:extLst>
              <a:ext uri="{FF2B5EF4-FFF2-40B4-BE49-F238E27FC236}">
                <a16:creationId xmlns:a16="http://schemas.microsoft.com/office/drawing/2014/main" id="{FE92FE7A-83BA-10BC-8327-5DAF02843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7713" y="788987"/>
            <a:ext cx="397602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ABSTRACT</a:t>
            </a:r>
            <a:endParaRPr dirty="0"/>
          </a:p>
        </p:txBody>
      </p:sp>
      <p:sp>
        <p:nvSpPr>
          <p:cNvPr id="57" name="Google Shape;57;p8">
            <a:extLst>
              <a:ext uri="{FF2B5EF4-FFF2-40B4-BE49-F238E27FC236}">
                <a16:creationId xmlns:a16="http://schemas.microsoft.com/office/drawing/2014/main" id="{BBA80585-73B4-38DC-1678-6415592BC4E1}"/>
              </a:ext>
            </a:extLst>
          </p:cNvPr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919C2419-F7AB-A849-C9A6-72D765321E51}"/>
              </a:ext>
            </a:extLst>
          </p:cNvPr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>
            <a:extLst>
              <a:ext uri="{FF2B5EF4-FFF2-40B4-BE49-F238E27FC236}">
                <a16:creationId xmlns:a16="http://schemas.microsoft.com/office/drawing/2014/main" id="{CF625B96-835B-4B38-772A-73AC3CECDF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>
            <a:extLst>
              <a:ext uri="{FF2B5EF4-FFF2-40B4-BE49-F238E27FC236}">
                <a16:creationId xmlns:a16="http://schemas.microsoft.com/office/drawing/2014/main" id="{15F57BAC-D650-C2EC-DE27-EEC9200A66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C49D8A-E1EE-E83D-7C78-B618C3F5170F}"/>
              </a:ext>
            </a:extLst>
          </p:cNvPr>
          <p:cNvSpPr txBox="1"/>
          <p:nvPr/>
        </p:nvSpPr>
        <p:spPr>
          <a:xfrm>
            <a:off x="121919" y="1791854"/>
            <a:ext cx="8900160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user's code to identify logical and conceptual mistakes and understands the intended purpose of the code.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immediately providing the correct solution,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MentorAI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contextual explanations and progressive hints to help the student discover the solution independently.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floating desktop interface allows the mentor to assist users while they work across different coding environments and editors.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rule-based code analysis with the Gemini API to provide intelligent, personalized, and adaptive programming guidance.</a:t>
            </a:r>
          </a:p>
        </p:txBody>
      </p:sp>
    </p:spTree>
    <p:extLst>
      <p:ext uri="{BB962C8B-B14F-4D97-AF65-F5344CB8AC3E}">
        <p14:creationId xmlns:p14="http://schemas.microsoft.com/office/powerpoint/2010/main" val="2675988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8BA492-7BA2-9538-0F37-9EEE361261E9}"/>
              </a:ext>
            </a:extLst>
          </p:cNvPr>
          <p:cNvSpPr txBox="1"/>
          <p:nvPr/>
        </p:nvSpPr>
        <p:spPr>
          <a:xfrm>
            <a:off x="463935" y="1794674"/>
            <a:ext cx="797839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rely heavily on AI-generated code without understanding the logic.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coding assistants prioritize productivity over education.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mistakes are difficult for beginners to identify and correct.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conceptual guidance reduces problem-solving ability.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 mentor that teaches instead of simply providing answers.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5F66C-BC01-3A19-A154-1BAB900F8FE9}"/>
              </a:ext>
            </a:extLst>
          </p:cNvPr>
          <p:cNvSpPr txBox="1"/>
          <p:nvPr/>
        </p:nvSpPr>
        <p:spPr>
          <a:xfrm>
            <a:off x="235140" y="1904396"/>
            <a:ext cx="8673719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coding mentor for beginner programmers.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logical and conceptual errors in source code.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purpose of programming constructs before suggesting fixes.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progressive hints instead of direct solutions.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programming skills through guided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1B3BA50-28C6-6CA4-F004-4CB9DEA3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10E3700B-E6B0-9647-F646-CD5D38CE8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FBAA2762-4F55-D7F6-08E0-B9D7AE7C1C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510C156E-7099-B688-B511-708DAC8071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F4A89-5F9D-F0A7-6191-DA235B9088A6}"/>
              </a:ext>
            </a:extLst>
          </p:cNvPr>
          <p:cNvSpPr txBox="1"/>
          <p:nvPr/>
        </p:nvSpPr>
        <p:spPr>
          <a:xfrm>
            <a:off x="235140" y="190439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coding assistants mainly focus on code generation, auto-completion, and debugging.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depend on generated code without understanding the underlying programming logic.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IDEs mainly provide syntax errors and compiler feedback, with limited conceptual guidance.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focus on an AI system that understands the learner's intent and teaches through guided explanations.</a:t>
            </a:r>
          </a:p>
        </p:txBody>
      </p:sp>
    </p:spTree>
    <p:extLst>
      <p:ext uri="{BB962C8B-B14F-4D97-AF65-F5344CB8AC3E}">
        <p14:creationId xmlns:p14="http://schemas.microsoft.com/office/powerpoint/2010/main" val="407209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960A8CE4-F583-DA7F-EDC3-559A561B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9319AC9-8F43-B785-42B8-0D6D2CDBF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DRAWBACK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86DB817-6D6A-BFC8-99BC-CFD2FA71D6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F58BEAE7-A48D-398F-1108-8B1634C9F4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41BBCE-0667-3DD5-477D-311DAAE6A41B}"/>
              </a:ext>
            </a:extLst>
          </p:cNvPr>
          <p:cNvSpPr txBox="1"/>
          <p:nvPr/>
        </p:nvSpPr>
        <p:spPr>
          <a:xfrm>
            <a:off x="235140" y="1904396"/>
            <a:ext cx="867371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Over-dependence on AI: Students may rely on generated code instead of developing their own problem-solving skills.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Solutions: Most tools provide the answer or corrected code rather than guiding students toward it.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Conceptual Learning: They often focus on fixing errors without explaining the reasoning behind the mistake.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Personalization: Guidance is generally not adapted to the student's learning level or previous mistakes. </a:t>
            </a:r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7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5B33DB8D-3F55-C5FF-2339-B889FE45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3F4352D8-EDA2-E729-0599-26E24B7E4A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PROPOSED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061A96D6-7825-DDDF-66A7-31DD5B116C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D9651CD2-132B-F2AB-7170-01D56B89C1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9FE3D6-CD64-1E17-B722-91BD5AF5B664}"/>
              </a:ext>
            </a:extLst>
          </p:cNvPr>
          <p:cNvSpPr txBox="1"/>
          <p:nvPr/>
        </p:nvSpPr>
        <p:spPr>
          <a:xfrm>
            <a:off x="235140" y="190439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rule-based code analysis and Gemini AI to identify logical and conceptual mistakes.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contextual explanations that describe what the code is trying to achieve and where the reasoning goes wrong.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progressive hint system, guiding students from conceptual understanding to stronger hints instead of immediately revealing the solution.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learning history to adapt explanations and guidance according to the user's recurring mistakes and learning progress.</a:t>
            </a:r>
          </a:p>
        </p:txBody>
      </p:sp>
    </p:spTree>
    <p:extLst>
      <p:ext uri="{BB962C8B-B14F-4D97-AF65-F5344CB8AC3E}">
        <p14:creationId xmlns:p14="http://schemas.microsoft.com/office/powerpoint/2010/main" val="84634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6788F317-54CF-75D6-EB99-FF606143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6EC1F6F8-5586-A210-DB62-BFE76F2D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PROPOSED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FEATURES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4493277B-35A9-B8DD-922C-0D87ECF835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7AC50EA0-5E4F-5335-4B35-28B2F068FC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DBC209-033E-EE99-EF9C-5C20BE7B5B1F}"/>
              </a:ext>
            </a:extLst>
          </p:cNvPr>
          <p:cNvSpPr txBox="1"/>
          <p:nvPr/>
        </p:nvSpPr>
        <p:spPr>
          <a:xfrm>
            <a:off x="235140" y="1904396"/>
            <a:ext cx="8673719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Code Analysis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to identify logical, conceptual, and common programming mistakes.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Guided Hints – Provides progressive hints instead of directly revealing the solution.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Intent-Based Explanation – Explains what the user's code is trying to achieve and how each section contributes to that goal.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Floating AI Mentor – Provides assistance through an always-accessible floating window while coding in different editors.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Learning – Tracks recurring mistakes and adjusts the difficulty and style of explanations based on the user's learning progress.</a:t>
            </a:r>
          </a:p>
        </p:txBody>
      </p:sp>
    </p:spTree>
    <p:extLst>
      <p:ext uri="{BB962C8B-B14F-4D97-AF65-F5344CB8AC3E}">
        <p14:creationId xmlns:p14="http://schemas.microsoft.com/office/powerpoint/2010/main" val="136168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31AC8638-985D-F7FF-AB7E-50ED6A80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46D063BF-4464-5DF7-C89E-A653F749C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LITERATURE REVIEW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CE047774-05F8-1B7F-B474-2DBABF9A21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99E824FC-36F3-9ADB-C728-1EEFE3B34E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A0F531B1-3717-DC24-CE6D-7252323A9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64" y="2281946"/>
            <a:ext cx="8393472" cy="36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2C17CC5D-305F-0DD9-78E8-20183F8F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441745E1-0178-F9E0-3E98-6F08A1911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SYSTEM DESIGN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7963A86C-972F-DA9A-021A-4660596622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21815317-9CCC-595D-B1BB-7AD73190F6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B53A3C-65C6-80B3-0D21-7C3A2B280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8" y="1881972"/>
            <a:ext cx="7011604" cy="467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9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821B68E-FA5C-ACDF-4E75-C39AD1DF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5AF914D9-AC7D-27B3-F29E-9F132726D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TECHNOLOGIES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9DBAEC7E-F05A-2850-5971-179B028B6D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9DE3F23C-D5EB-6F03-7398-A89324F42D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97D6FF31-7374-C031-BF1C-DD4C8CEE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27" y="2309648"/>
            <a:ext cx="8300545" cy="34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0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E5CB52E-8D5F-5C29-AF12-7191C8A1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1DDC30E-FBD1-E060-073F-BF4884FB8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US" dirty="0"/>
              <a:t>MODULE 1: </a:t>
            </a:r>
            <a:r>
              <a:rPr lang="en-IN" dirty="0"/>
              <a:t>Code Understanding &amp; Intent Mapping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1145421C-F50F-B7EF-B050-4D35C7EB6A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55B4565C-69ED-9BB4-879B-6923296C6F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15B637-FD6E-CC43-FB1A-B3FE2218468E}"/>
              </a:ext>
            </a:extLst>
          </p:cNvPr>
          <p:cNvSpPr txBox="1"/>
          <p:nvPr/>
        </p:nvSpPr>
        <p:spPr>
          <a:xfrm>
            <a:off x="250825" y="2025667"/>
            <a:ext cx="8673719" cy="280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the user's source code and identifies its overall purpose.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what individual loops, conditions, functions, and operations are intended to accomplish.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representation of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program.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intended behaviour with the actual implementation.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context required for deeper AI analysis.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3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D1A0B491-2A89-4B14-0AB9-9868A575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CB78B1BA-A282-7BAA-807B-1708F32186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IN" dirty="0"/>
              <a:t>MODULE 2:  Logic Diagnosis &amp; Intelligent Guidance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D5BB300-6966-E4A7-DDC6-516DB8B32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35829575-464D-FFD3-7605-7185CF032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AEB986-55B3-E5A8-8DA9-4BBDD8FC488E}"/>
              </a:ext>
            </a:extLst>
          </p:cNvPr>
          <p:cNvSpPr txBox="1"/>
          <p:nvPr/>
        </p:nvSpPr>
        <p:spPr>
          <a:xfrm>
            <a:off x="285340" y="202485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logical mistakes and 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behind the incorrect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program flow and code context to determine where the user's reasoning went wrong.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the code's intended operation before explaining the mistake.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hints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immediately providing corrected code.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Gemini AI to turn technical analysis into clear, learner-friendly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59812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F656602-B6D4-6D2D-0AD6-EAE8458B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669FBFB4-873A-3697-875F-7AA91411A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US" dirty="0"/>
              <a:t>MODULE 3: </a:t>
            </a:r>
            <a:r>
              <a:rPr lang="en-IN" dirty="0"/>
              <a:t>Adaptive Mentoring &amp; Interactive Assistance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06860462-332A-2C09-C5A9-39FC416220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41ECBC23-E43B-BFC1-4F32-4A33018DFF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C935D-222F-EA83-61F4-EE2068F735C1}"/>
              </a:ext>
            </a:extLst>
          </p:cNvPr>
          <p:cNvSpPr txBox="1"/>
          <p:nvPr/>
        </p:nvSpPr>
        <p:spPr>
          <a:xfrm>
            <a:off x="285340" y="202485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user's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history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recurring mistakes and concepts that require improvement.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explanation depth and hint difficulty based on the user's progress.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mentor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desktop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the user codes.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request further explanation, stronger hints, or eventually a solution.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learning patterns to provide increasingly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programming guidance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85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36178A6-3E76-CD2F-EB53-17C00638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FA2627AA-6BDD-BA27-E36C-F2F0DE351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METHODOLOGY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A07CEC87-580C-B6A3-C296-F37DF44E83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E12995A-3529-9066-8CB7-6166E695A9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1B086D-AFD8-C3CD-A8B6-754B977081AD}"/>
              </a:ext>
            </a:extLst>
          </p:cNvPr>
          <p:cNvSpPr txBox="1"/>
          <p:nvPr/>
        </p:nvSpPr>
        <p:spPr>
          <a:xfrm>
            <a:off x="285340" y="2024856"/>
            <a:ext cx="867371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writes code in any supported code editor.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code is analysed using rule-based techniques and AI.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programmer's intent and detects logical issues.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generates conceptual explanations and guided hints.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learns, modifies the code, and requests further guidance only if needed.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691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5E8A5AA-C1E9-2E2A-985F-30C6CAE2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96FFE08-D8B2-4CFE-FBF7-E68519CE8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CONCLUSION AND FUTURE SCOPE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711E45C-74EF-4D05-B931-7DE96A4731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F3B5023-640D-1D3E-3430-4AEB7433C5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CB1080-62D4-B6D1-0184-BECE481B01CF}"/>
              </a:ext>
            </a:extLst>
          </p:cNvPr>
          <p:cNvSpPr txBox="1"/>
          <p:nvPr/>
        </p:nvSpPr>
        <p:spPr>
          <a:xfrm>
            <a:off x="250825" y="2024856"/>
            <a:ext cx="775027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MentorAI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AI-powered programming mentor that focuses on understanding and guided learning.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logical mistakes and explains the intended behaviour and reasoning behind the user's code.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hints help students develop independent problem-solving and programming skills.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can include multiple programming languages, IDE extensions, voice-based mentoring, and personalized learning analytics.</a:t>
            </a:r>
          </a:p>
        </p:txBody>
      </p:sp>
    </p:spTree>
    <p:extLst>
      <p:ext uri="{BB962C8B-B14F-4D97-AF65-F5344CB8AC3E}">
        <p14:creationId xmlns:p14="http://schemas.microsoft.com/office/powerpoint/2010/main" val="184027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B3E5F9D4-55A0-D262-73CF-35087982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0C243659-FD3A-55C0-D09E-13C2F51EA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REFERENCES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66D5D2C6-FF39-ACF8-0C25-C0E918AF5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7FA088E-C7B7-3DE6-7755-069A707584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36E19-DDE5-02EE-C187-5B846EBE5C21}"/>
              </a:ext>
            </a:extLst>
          </p:cNvPr>
          <p:cNvSpPr txBox="1"/>
          <p:nvPr/>
        </p:nvSpPr>
        <p:spPr>
          <a:xfrm>
            <a:off x="396030" y="2182511"/>
            <a:ext cx="77502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Russell, S. J., &amp; Norvig, P.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Modern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Pearson Education.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Alpaydın, E.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MIT Press, 2020.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Kazemitabaar, M.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the Effect of AI Code Generators on Programming Education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Reigning in GPT-4 to Tutor Java Programming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Rojas-Galeano, S.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Tool and Trouble: Student Experiences with AI Coding Assistants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Q.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Scaffolding Metacognition in Programming Education with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15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title"/>
          </p:nvPr>
        </p:nvSpPr>
        <p:spPr>
          <a:xfrm>
            <a:off x="3367087" y="3106737"/>
            <a:ext cx="21812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/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1070</Words>
  <Application>Microsoft Office PowerPoint</Application>
  <PresentationFormat>On-screen Show (4:3)</PresentationFormat>
  <Paragraphs>97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 An Intelligent AI Coding Mentor for Guided Programming Learning  CAPSTONE PROJECT  CSA1707-Artificial Intelligence</vt:lpstr>
      <vt:lpstr>INTRODUCTION</vt:lpstr>
      <vt:lpstr>ABSTRACT</vt:lpstr>
      <vt:lpstr>PROBLEM STATEMENT</vt:lpstr>
      <vt:lpstr>OBJECTIVE</vt:lpstr>
      <vt:lpstr>EXISTING SYSTEM</vt:lpstr>
      <vt:lpstr>EXISTING SYSTEM DRAWBACK</vt:lpstr>
      <vt:lpstr>PROPOSED SYSTEM </vt:lpstr>
      <vt:lpstr>PROPOSED SYSTEM FEATURES</vt:lpstr>
      <vt:lpstr>LITERATURE REVIEW</vt:lpstr>
      <vt:lpstr>SYSTEM DESIGN</vt:lpstr>
      <vt:lpstr>TECHNOLOGIES</vt:lpstr>
      <vt:lpstr>MODULE 1: Code Understanding &amp; Intent Mapping</vt:lpstr>
      <vt:lpstr>MODULE 2:  Logic Diagnosis &amp; Intelligent Guidance</vt:lpstr>
      <vt:lpstr>MODULE 3: Adaptive Mentoring &amp; Interactive Assistance</vt:lpstr>
      <vt:lpstr>METHODOLOGY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VASANTH</dc:creator>
  <cp:lastModifiedBy>VASANTH D Y</cp:lastModifiedBy>
  <cp:revision>15</cp:revision>
  <dcterms:modified xsi:type="dcterms:W3CDTF">2026-08-14T03:16:21Z</dcterms:modified>
</cp:coreProperties>
</file>